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806948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73152"/>
            <a:ext cx="5029200" cy="8961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394960" y="2743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0A2342"/>
                </a:solidFill>
              </a:rPr>
              <a:t>AN AUTONOMOUS INSTITUTION | NAAC 'A' GRADE</a:t>
            </a:r>
            <a:endParaRPr lang="en-US" sz="800" dirty="0"/>
          </a:p>
        </p:txBody>
      </p:sp>
      <p:sp>
        <p:nvSpPr>
          <p:cNvPr id="5" name="Shape 2"/>
          <p:cNvSpPr/>
          <p:nvPr/>
        </p:nvSpPr>
        <p:spPr>
          <a:xfrm>
            <a:off x="0" y="1051560"/>
            <a:ext cx="9144000" cy="54864"/>
          </a:xfrm>
          <a:prstGeom prst="rect">
            <a:avLst/>
          </a:prstGeom>
          <a:solidFill>
            <a:srgbClr val="29B6F6"/>
          </a:solidFill>
          <a:ln w="12700">
            <a:solidFill>
              <a:srgbClr val="29B6F6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0" y="1106424"/>
            <a:ext cx="9144000" cy="36576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1371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kern="0" spc="200" dirty="0">
                <a:solidFill>
                  <a:srgbClr val="FFFFFF"/>
                </a:solidFill>
              </a:rPr>
              <a:t>SMART WATER LEVEL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457200" y="20116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kern="0" spc="100" dirty="0">
                <a:solidFill>
                  <a:srgbClr val="29B6F6"/>
                </a:solidFill>
              </a:rPr>
              <a:t>ALERT SYSTEM FOR DAMS / TANKS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457200" y="2697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90A4AE"/>
                </a:solidFill>
              </a:rPr>
              <a:t>A Prototype to Practice (P2P) Project Report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2286000" y="3127248"/>
            <a:ext cx="4572000" cy="2743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65760" y="3246120"/>
            <a:ext cx="4023360" cy="1600200"/>
          </a:xfrm>
          <a:prstGeom prst="rect">
            <a:avLst/>
          </a:prstGeom>
          <a:solidFill>
            <a:srgbClr val="0D2D5A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65760" y="329184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29B6F6"/>
                </a:solidFill>
              </a:rPr>
              <a:t>PRESENTED BY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457200" y="3584448"/>
            <a:ext cx="3840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</a:rPr>
              <a:t>Likhitha. N</a:t>
            </a:r>
            <a:endParaRPr lang="en-US" sz="11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100" dirty="0">
                <a:solidFill>
                  <a:srgbClr val="90A4AE"/>
                </a:solidFill>
              </a:rPr>
              <a:t>2403912210422020</a:t>
            </a:r>
            <a:endParaRPr lang="en-US" sz="11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</a:rPr>
              <a:t>Mehala. K</a:t>
            </a:r>
            <a:endParaRPr lang="en-US" sz="11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100" dirty="0">
                <a:solidFill>
                  <a:srgbClr val="90A4AE"/>
                </a:solidFill>
              </a:rPr>
              <a:t>2403912210422022</a:t>
            </a:r>
            <a:endParaRPr lang="en-US" sz="11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</a:rPr>
              <a:t>Muthurakku. J</a:t>
            </a:r>
            <a:endParaRPr lang="en-US" sz="11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100" dirty="0">
                <a:solidFill>
                  <a:srgbClr val="90A4AE"/>
                </a:solidFill>
              </a:rPr>
              <a:t>912210422302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754880" y="3246120"/>
            <a:ext cx="4023360" cy="1600200"/>
          </a:xfrm>
          <a:prstGeom prst="rect">
            <a:avLst/>
          </a:prstGeom>
          <a:solidFill>
            <a:srgbClr val="0D2D5A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754880" y="329184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B300"/>
                </a:solidFill>
              </a:rPr>
              <a:t>OUR MENTOR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4846320" y="3547872"/>
            <a:ext cx="38404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FFFFFF"/>
                </a:solidFill>
              </a:rPr>
              <a:t>Dr. C. Sheelamal, M.E., Ph.D.</a:t>
            </a:r>
            <a:endParaRPr lang="en-US" sz="10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90A4AE"/>
                </a:solidFill>
              </a:rPr>
              <a:t>Head of the Department</a:t>
            </a:r>
            <a:endParaRPr lang="en-US" sz="10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90A4AE"/>
                </a:solidFill>
              </a:rPr>
              <a:t>Professor &amp; Head</a:t>
            </a:r>
            <a:endParaRPr lang="en-US" sz="10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90A4AE"/>
                </a:solidFill>
              </a:rPr>
              <a:t>Dept. of CSE</a:t>
            </a:r>
            <a:endParaRPr lang="en-US" sz="10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90A4AE"/>
                </a:solidFill>
              </a:rPr>
              <a:t>Solamalai College of Engineering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0897B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Department of Computer Science and Engineering  |  May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INTRODUCTION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40080"/>
            <a:ext cx="9144000" cy="45720"/>
          </a:xfrm>
          <a:prstGeom prst="rect">
            <a:avLst/>
          </a:prstGeom>
          <a:solidFill>
            <a:srgbClr val="29B6F6"/>
          </a:solidFill>
          <a:ln w="12700">
            <a:solidFill>
              <a:srgbClr val="29B6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8229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65C0"/>
                </a:solidFill>
              </a:rPr>
              <a:t>Water Resource Challenge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65760" y="123444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300" dirty="0">
                <a:solidFill>
                  <a:srgbClr val="37474F"/>
                </a:solidFill>
              </a:rPr>
              <a:t>Water is one of the most vital natural resources — essential for agriculture, domestic life, and industrial operations.</a:t>
            </a:r>
            <a:endParaRPr lang="en-US" sz="13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300" dirty="0">
                <a:solidFill>
                  <a:srgbClr val="37474F"/>
                </a:solidFill>
              </a:rPr>
              <a:t>Rural India heavily depends on open dams, community tanks, and reservoirs for irrigation and daily needs.</a:t>
            </a:r>
            <a:endParaRPr lang="en-US" sz="13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300" dirty="0">
                <a:solidFill>
                  <a:srgbClr val="37474F"/>
                </a:solidFill>
              </a:rPr>
              <a:t>Traditional monitoring is manual, error-prone, and too slow to prevent water crises.</a:t>
            </a:r>
            <a:endParaRPr lang="en-US" sz="13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300" dirty="0">
                <a:solidFill>
                  <a:srgbClr val="37474F"/>
                </a:solidFill>
              </a:rPr>
              <a:t>There is a critical need for an affordable, automated, real-time water monitoring solution.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760720" y="777240"/>
            <a:ext cx="1463040" cy="155448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760720" y="96012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💧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760720" y="15087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Manual Monitoring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760720" y="187452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EEFF"/>
                </a:solidFill>
              </a:rPr>
              <a:t>Error-prone &amp; slow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360920" y="777240"/>
            <a:ext cx="1463040" cy="155448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360920" y="96012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⚡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7360920" y="15087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IoT Solution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360920" y="187452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EEFF"/>
                </a:solidFill>
              </a:rPr>
              <a:t>Automated &amp; real-time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760720" y="2606040"/>
            <a:ext cx="1463040" cy="15544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760720" y="278892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📱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5760720" y="33375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SMS Alerts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760720" y="370332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EEFF"/>
                </a:solidFill>
              </a:rPr>
              <a:t>Instant notification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360920" y="2606040"/>
            <a:ext cx="1463040" cy="155448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360920" y="278892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💰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7360920" y="33375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Rs. 1,000–2,000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360920" y="370332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EEFF"/>
                </a:solidFill>
              </a:rPr>
              <a:t>Total hardware cost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A2342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Smart Water Level Alert System for Dams / Tanks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EXISTING SYSTEM  vs  PROPOSED SYSTEM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640080"/>
            <a:ext cx="9144000" cy="45720"/>
          </a:xfrm>
          <a:prstGeom prst="rect">
            <a:avLst/>
          </a:prstGeom>
          <a:solidFill>
            <a:srgbClr val="29B6F6"/>
          </a:solidFill>
          <a:ln w="12700">
            <a:solidFill>
              <a:srgbClr val="29B6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777240"/>
            <a:ext cx="3840480" cy="41148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77724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⚠ EXISTING SYSTEM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0" y="777240"/>
            <a:ext cx="3840480" cy="41148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0" y="77724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✅ PROPOSED SYSTEM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74320" y="1298448"/>
            <a:ext cx="3840480" cy="502920"/>
          </a:xfrm>
          <a:prstGeom prst="rect">
            <a:avLst/>
          </a:prstGeom>
          <a:solidFill>
            <a:srgbClr val="FFF3E0"/>
          </a:solidFill>
          <a:ln w="12700">
            <a:solidFill>
              <a:srgbClr val="FFCCB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344168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74F"/>
                </a:solidFill>
              </a:rPr>
              <a:t>✗  Manual inspection by operators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1874520"/>
            <a:ext cx="3840480" cy="502920"/>
          </a:xfrm>
          <a:prstGeom prst="rect">
            <a:avLst/>
          </a:prstGeom>
          <a:solidFill>
            <a:srgbClr val="FFEBE0"/>
          </a:solidFill>
          <a:ln w="12700">
            <a:solidFill>
              <a:srgbClr val="FFCCB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192024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74F"/>
                </a:solidFill>
              </a:rPr>
              <a:t>✗  Reactive approach — act after crisis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2450592"/>
            <a:ext cx="3840480" cy="502920"/>
          </a:xfrm>
          <a:prstGeom prst="rect">
            <a:avLst/>
          </a:prstGeom>
          <a:solidFill>
            <a:srgbClr val="FFF3E0"/>
          </a:solidFill>
          <a:ln w="12700">
            <a:solidFill>
              <a:srgbClr val="FFCCB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2496312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74F"/>
                </a:solidFill>
              </a:rPr>
              <a:t>✗  Time-consuming daily visits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3026664"/>
            <a:ext cx="3840480" cy="502920"/>
          </a:xfrm>
          <a:prstGeom prst="rect">
            <a:avLst/>
          </a:prstGeom>
          <a:solidFill>
            <a:srgbClr val="FFEBE0"/>
          </a:solidFill>
          <a:ln w="12700">
            <a:solidFill>
              <a:srgbClr val="FFCCB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3072384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74F"/>
                </a:solidFill>
              </a:rPr>
              <a:t>✗  Human error in readings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3602736"/>
            <a:ext cx="3840480" cy="502920"/>
          </a:xfrm>
          <a:prstGeom prst="rect">
            <a:avLst/>
          </a:prstGeom>
          <a:solidFill>
            <a:srgbClr val="FFF3E0"/>
          </a:solidFill>
          <a:ln w="12700">
            <a:solidFill>
              <a:srgbClr val="FFCCB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3648456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74F"/>
                </a:solidFill>
              </a:rPr>
              <a:t>✗  No remote notification capability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4178808"/>
            <a:ext cx="3840480" cy="502920"/>
          </a:xfrm>
          <a:prstGeom prst="rect">
            <a:avLst/>
          </a:prstGeom>
          <a:solidFill>
            <a:srgbClr val="FFEBE0"/>
          </a:solidFill>
          <a:ln w="12700">
            <a:solidFill>
              <a:srgbClr val="FFCCB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4224528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74F"/>
                </a:solidFill>
              </a:rPr>
              <a:t>✗  Expensive infrastructure required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029200" y="1298448"/>
            <a:ext cx="3840480" cy="502920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74920" y="1344168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74F"/>
                </a:solidFill>
              </a:rPr>
              <a:t>✓  Automated HC-SR04 ultrasonic sensing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029200" y="1874520"/>
            <a:ext cx="3840480" cy="502920"/>
          </a:xfrm>
          <a:prstGeom prst="rect">
            <a:avLst/>
          </a:prstGeom>
          <a:solidFill>
            <a:srgbClr val="F1F8F1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74920" y="192024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74F"/>
                </a:solidFill>
              </a:rPr>
              <a:t>✓  Proactive — alerts before crisis occurs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029200" y="2450592"/>
            <a:ext cx="3840480" cy="502920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74920" y="2496312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74F"/>
                </a:solidFill>
              </a:rPr>
              <a:t>✓  Continuous 24/7 monitoring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029200" y="3026664"/>
            <a:ext cx="3840480" cy="502920"/>
          </a:xfrm>
          <a:prstGeom prst="rect">
            <a:avLst/>
          </a:prstGeom>
          <a:solidFill>
            <a:srgbClr val="F1F8F1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74920" y="3072384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74F"/>
                </a:solidFill>
              </a:rPr>
              <a:t>✓  ±1 cm sensor accuracy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029200" y="3602736"/>
            <a:ext cx="3840480" cy="502920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74920" y="3648456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74F"/>
                </a:solidFill>
              </a:rPr>
              <a:t>✓  Instant SMS to up to 5 numbers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029200" y="4178808"/>
            <a:ext cx="3840480" cy="502920"/>
          </a:xfrm>
          <a:prstGeom prst="rect">
            <a:avLst/>
          </a:prstGeom>
          <a:solidFill>
            <a:srgbClr val="F1F8F1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74920" y="4224528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74F"/>
                </a:solidFill>
              </a:rPr>
              <a:t>✓  Rs.1,000–2,000 total hardware cost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224528" y="2377440"/>
            <a:ext cx="694944" cy="694944"/>
          </a:xfrm>
          <a:prstGeom prst="ellipse">
            <a:avLst/>
          </a:prstGeom>
          <a:solidFill>
            <a:srgbClr val="0A2342"/>
          </a:solidFill>
          <a:ln w="12700">
            <a:solidFill>
              <a:srgbClr val="29B6F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224528" y="2377440"/>
            <a:ext cx="694944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VS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A2342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Smart Water Level Alert System for Dams / Tanks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OBJECTIVES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40080"/>
            <a:ext cx="9144000" cy="45720"/>
          </a:xfrm>
          <a:prstGeom prst="rect">
            <a:avLst/>
          </a:prstGeom>
          <a:solidFill>
            <a:srgbClr val="29B6F6"/>
          </a:solidFill>
          <a:ln w="12700">
            <a:solidFill>
              <a:srgbClr val="29B6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777240"/>
            <a:ext cx="411480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1E88E5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777240"/>
            <a:ext cx="502920" cy="12618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777240"/>
            <a:ext cx="50292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822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🎯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1216152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7474F"/>
                </a:solidFill>
              </a:rPr>
              <a:t>Design a low-cost automated water level monitoring system deployable without expensive infrastructure.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09160" y="777240"/>
            <a:ext cx="411480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1E88E5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777240"/>
            <a:ext cx="502920" cy="12618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9160" y="777240"/>
            <a:ext cx="50292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257800" y="822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📡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257800" y="1216152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7474F"/>
                </a:solidFill>
              </a:rPr>
              <a:t>Enable real-time continuous measurement using HC-SR04 ultrasonic sensor with Arduino UNO.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2167128"/>
            <a:ext cx="411480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1E88E5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2167128"/>
            <a:ext cx="502920" cy="12618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2167128"/>
            <a:ext cx="50292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22960" y="22128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📲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22960" y="2606040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7474F"/>
                </a:solidFill>
              </a:rPr>
              <a:t>Implement automated SMS alerts instantly notifying stakeholders when water level drops critically.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09160" y="2167128"/>
            <a:ext cx="411480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1E88E5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09160" y="2167128"/>
            <a:ext cx="502920" cy="12618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09160" y="2167128"/>
            <a:ext cx="50292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257800" y="22128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👥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257800" y="2606040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7474F"/>
                </a:solidFill>
              </a:rPr>
              <a:t>Support multiple alert recipients — up to 5 mobile numbers for simultaneous SMS notifications.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74320" y="3557016"/>
            <a:ext cx="411480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1E88E5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74320" y="3557016"/>
            <a:ext cx="502920" cy="12618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3557016"/>
            <a:ext cx="50292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822960" y="36027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☀️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822960" y="3995928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7474F"/>
                </a:solidFill>
              </a:rPr>
              <a:t>Create energy-flexible solution: 5V DC adapter or off-grid solar panel with battery backup.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709160" y="3557016"/>
            <a:ext cx="411480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1E88E5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09160" y="3557016"/>
            <a:ext cx="502920" cy="12618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09160" y="3557016"/>
            <a:ext cx="50292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06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5257800" y="36027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💡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5257800" y="3995928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7474F"/>
                </a:solidFill>
              </a:rPr>
              <a:t>Deliver measurable real-world impact with total hardware cost under Rs.2,000.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A2342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Smart Water Level Alert System for Dams / Tanks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SYSTEM ARCHITECTURE &amp; DATA FLOW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640080"/>
            <a:ext cx="9144000" cy="45720"/>
          </a:xfrm>
          <a:prstGeom prst="rect">
            <a:avLst/>
          </a:prstGeom>
          <a:solidFill>
            <a:srgbClr val="29B6F6"/>
          </a:solidFill>
          <a:ln w="12700">
            <a:solidFill>
              <a:srgbClr val="29B6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1371600"/>
            <a:ext cx="1554480" cy="100584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  <a:effectLst>
            <a:outerShdw blurRad="762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28600" y="146304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Water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Tank / Dam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28600" y="2084832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DEEFF"/>
                </a:solidFill>
              </a:rPr>
              <a:t>Physical Source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783080" y="1874520"/>
            <a:ext cx="411480" cy="0"/>
          </a:xfrm>
          <a:prstGeom prst="line">
            <a:avLst/>
          </a:prstGeom>
          <a:noFill/>
          <a:ln w="25400">
            <a:solidFill>
              <a:srgbClr val="37474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03120" y="1755648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74F"/>
                </a:solidFill>
              </a:rPr>
              <a:t>▶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965960" y="1371600"/>
            <a:ext cx="1554480" cy="100584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  <a:effectLst>
            <a:outerShdw blurRad="762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965960" y="146304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HC-SR04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Ultrasonic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965960" y="2084832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DEEFF"/>
                </a:solidFill>
              </a:rPr>
              <a:t>Distance Sensor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520440" y="1874520"/>
            <a:ext cx="411480" cy="0"/>
          </a:xfrm>
          <a:prstGeom prst="line">
            <a:avLst/>
          </a:prstGeom>
          <a:noFill/>
          <a:ln w="25400">
            <a:solidFill>
              <a:srgbClr val="37474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0" y="1755648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74F"/>
                </a:solidFill>
              </a:rPr>
              <a:t>▶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703320" y="1371600"/>
            <a:ext cx="1554480" cy="10058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blurRad="762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703320" y="146304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Arduino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UNO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703320" y="2084832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DEEFF"/>
                </a:solidFill>
              </a:rPr>
              <a:t>Microcontroller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5257800" y="1874520"/>
            <a:ext cx="411480" cy="0"/>
          </a:xfrm>
          <a:prstGeom prst="line">
            <a:avLst/>
          </a:prstGeom>
          <a:noFill/>
          <a:ln w="25400">
            <a:solidFill>
              <a:srgbClr val="37474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77840" y="1755648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74F"/>
                </a:solidFill>
              </a:rPr>
              <a:t>▶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40680" y="1371600"/>
            <a:ext cx="1554480" cy="100584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  <a:effectLst>
            <a:outerShdw blurRad="762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440680" y="146304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SIM800L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GSM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40680" y="2084832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DEEFF"/>
                </a:solidFill>
              </a:rPr>
              <a:t>Communication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6995160" y="1874520"/>
            <a:ext cx="411480" cy="0"/>
          </a:xfrm>
          <a:prstGeom prst="line">
            <a:avLst/>
          </a:prstGeom>
          <a:noFill/>
          <a:ln w="25400">
            <a:solidFill>
              <a:srgbClr val="37474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0" y="1755648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74F"/>
                </a:solidFill>
              </a:rPr>
              <a:t>▶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178040" y="1371600"/>
            <a:ext cx="1554480" cy="10058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  <a:effectLst>
            <a:outerShdw blurRad="762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178040" y="146304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SMS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Alert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178040" y="2084832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DEEFF"/>
                </a:solidFill>
              </a:rPr>
              <a:t>Mobile Notification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3383280" y="2834640"/>
            <a:ext cx="2194560" cy="822960"/>
          </a:xfrm>
          <a:prstGeom prst="rect">
            <a:avLst/>
          </a:prstGeom>
          <a:solidFill>
            <a:srgbClr val="283593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83280" y="283464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16×2 LCD Display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Real-time Level Output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480560" y="2377440"/>
            <a:ext cx="0" cy="457200"/>
          </a:xfrm>
          <a:prstGeom prst="line">
            <a:avLst/>
          </a:prstGeom>
          <a:noFill/>
          <a:ln w="25400">
            <a:solidFill>
              <a:srgbClr val="1E88E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3794760"/>
            <a:ext cx="365760" cy="36576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4320" y="37947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85800" y="37490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74F"/>
                </a:solidFill>
              </a:rPr>
              <a:t>Sensor emits ultrasonic pulse &amp; measures echo return time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2423160" y="3794760"/>
            <a:ext cx="365760" cy="36576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423160" y="37947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2834640" y="37490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74F"/>
                </a:solidFill>
              </a:rPr>
              <a:t>Arduino calculates distance → converts to fill percentage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572000" y="3794760"/>
            <a:ext cx="365760" cy="36576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0" y="37947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983480" y="37490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74F"/>
                </a:solidFill>
              </a:rPr>
              <a:t>If level &lt; 20%: GSM triggers SMS to all configured numbers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720840" y="3794760"/>
            <a:ext cx="365760" cy="36576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720840" y="37947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7132320" y="37490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74F"/>
                </a:solidFill>
              </a:rPr>
              <a:t>When restored: 'Water Restored' confirmation SMS sent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A2342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Smart Water Level Alert System for Dams / Tanks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HARDWARE COMPONENTS &amp; CIRCUIT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640080"/>
            <a:ext cx="9144000" cy="45720"/>
          </a:xfrm>
          <a:prstGeom prst="rect">
            <a:avLst/>
          </a:prstGeom>
          <a:solidFill>
            <a:srgbClr val="29B6F6"/>
          </a:solidFill>
          <a:ln w="12700">
            <a:solidFill>
              <a:srgbClr val="29B6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22960"/>
            <a:ext cx="27432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22960"/>
            <a:ext cx="2743200" cy="4572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8229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🔌  Arduino UNO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74320" y="13258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565C0"/>
                </a:solidFill>
              </a:rPr>
              <a:t>Microcontroller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1645920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37474F"/>
                </a:solidFill>
              </a:rPr>
              <a:t>Digital Pins 9 (TRIG), 10 (ECHO), 7 (RX), 8 (TX)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154680" y="822960"/>
            <a:ext cx="27432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897B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54680" y="822960"/>
            <a:ext cx="2743200" cy="45720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54680" y="8229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📡  HC-SR04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154680" y="13258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897B"/>
                </a:solidFill>
              </a:rPr>
              <a:t>Ultrasonic Sensor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246120" y="1645920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37474F"/>
                </a:solidFill>
              </a:rPr>
              <a:t>Range: 2cm–400cm | Accuracy: ±1 cm | 5V powered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035040" y="822960"/>
            <a:ext cx="27432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510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35040" y="822960"/>
            <a:ext cx="2743200" cy="45720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35040" y="8229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📱  SIM800L GSM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035040" y="13258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65100"/>
                </a:solidFill>
              </a:rPr>
              <a:t>Communication Module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126480" y="1645920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37474F"/>
                </a:solidFill>
              </a:rPr>
              <a:t>3.7V–4.2V supply | SoftwareSerial | AT Commands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" y="2743200"/>
            <a:ext cx="27432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6A1B9A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2743200"/>
            <a:ext cx="2743200" cy="45720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27432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🖥️  16×2 LCD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74320" y="32461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A1B9A"/>
                </a:solidFill>
              </a:rPr>
              <a:t>I2C Display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65760" y="3566160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37474F"/>
                </a:solidFill>
              </a:rPr>
              <a:t>I2C interface: SDA &amp; SCL pins | Real-time output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154680" y="2743200"/>
            <a:ext cx="27432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D32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154680" y="2743200"/>
            <a:ext cx="2743200" cy="4572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154680" y="27432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⚡  Power Supply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154680" y="32461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7D32"/>
                </a:solidFill>
              </a:rPr>
              <a:t>Energy Input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246120" y="3566160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37474F"/>
                </a:solidFill>
              </a:rPr>
              <a:t>5V DC adapter OR solar panel + battery backup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035040" y="2743200"/>
            <a:ext cx="27432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37474F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035040" y="2743200"/>
            <a:ext cx="2743200" cy="457200"/>
          </a:xfrm>
          <a:prstGeom prst="rect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035040" y="27432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🔧  Perfboard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035040" y="32461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7474F"/>
                </a:solidFill>
              </a:rPr>
              <a:t>Final Assembly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126480" y="3566160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37474F"/>
                </a:solidFill>
              </a:rPr>
              <a:t>Soldered connections for field robustness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A2342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Smart Water Level Alert System for Dams / Tanks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PROTOTYPE PREPARATION &amp; EVALUATION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640080"/>
            <a:ext cx="9144000" cy="45720"/>
          </a:xfrm>
          <a:prstGeom prst="rect">
            <a:avLst/>
          </a:prstGeom>
          <a:solidFill>
            <a:srgbClr val="29B6F6"/>
          </a:solidFill>
          <a:ln w="12700">
            <a:solidFill>
              <a:srgbClr val="29B6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804672"/>
            <a:ext cx="548640" cy="548640"/>
          </a:xfrm>
          <a:prstGeom prst="ellipse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80467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325880" y="1078992"/>
            <a:ext cx="1069848" cy="0"/>
          </a:xfrm>
          <a:prstGeom prst="line">
            <a:avLst/>
          </a:prstGeom>
          <a:noFill/>
          <a:ln w="19050">
            <a:solidFill>
              <a:srgbClr val="90A4AE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228600" y="1417320"/>
            <a:ext cx="2011680" cy="3383280"/>
          </a:xfrm>
          <a:prstGeom prst="rect">
            <a:avLst/>
          </a:prstGeom>
          <a:solidFill>
            <a:srgbClr val="F8FBFF"/>
          </a:solidFill>
          <a:ln w="12700">
            <a:solidFill>
              <a:srgbClr val="1E88E5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28600" y="1417320"/>
            <a:ext cx="2011680" cy="41148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" y="1417320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FFFFFF"/>
                </a:solidFill>
              </a:rPr>
              <a:t>PHASE 1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228600" y="1618488"/>
            <a:ext cx="201168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Research &amp; Planning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20040" y="1920240"/>
            <a:ext cx="18288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50" dirty="0">
                <a:solidFill>
                  <a:srgbClr val="37474F"/>
                </a:solidFill>
              </a:rPr>
              <a:t>Studied HC-SR04, SIM800L datasheets</a:t>
            </a:r>
            <a:endParaRPr lang="en-US" sz="105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50" dirty="0">
                <a:solidFill>
                  <a:srgbClr val="37474F"/>
                </a:solidFill>
              </a:rPr>
              <a:t>Identified user requirements</a:t>
            </a:r>
            <a:endParaRPr lang="en-US" sz="105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50" dirty="0">
                <a:solidFill>
                  <a:srgbClr val="37474F"/>
                </a:solidFill>
              </a:rPr>
              <a:t>Planned firmware logic in Arduino IDE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944368" y="804672"/>
            <a:ext cx="548640" cy="548640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44368" y="80467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493008" y="1078992"/>
            <a:ext cx="1069848" cy="0"/>
          </a:xfrm>
          <a:prstGeom prst="line">
            <a:avLst/>
          </a:prstGeom>
          <a:noFill/>
          <a:ln w="19050">
            <a:solidFill>
              <a:srgbClr val="90A4AE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2395728" y="1417320"/>
            <a:ext cx="2011680" cy="3383280"/>
          </a:xfrm>
          <a:prstGeom prst="rect">
            <a:avLst/>
          </a:prstGeom>
          <a:solidFill>
            <a:srgbClr val="F8FBFF"/>
          </a:solidFill>
          <a:ln w="12700">
            <a:solidFill>
              <a:srgbClr val="00897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395728" y="1417320"/>
            <a:ext cx="2011680" cy="41148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395728" y="1417320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FFFFFF"/>
                </a:solidFill>
              </a:rPr>
              <a:t>PHASE 2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395728" y="1618488"/>
            <a:ext cx="201168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Hardware Assembly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487168" y="1920240"/>
            <a:ext cx="18288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50" dirty="0">
                <a:solidFill>
                  <a:srgbClr val="37474F"/>
                </a:solidFill>
              </a:rPr>
              <a:t>Breadboard prototype setup</a:t>
            </a:r>
            <a:endParaRPr lang="en-US" sz="105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50" dirty="0">
                <a:solidFill>
                  <a:srgbClr val="37474F"/>
                </a:solidFill>
              </a:rPr>
              <a:t>Sensor wiring to Arduino pins</a:t>
            </a:r>
            <a:endParaRPr lang="en-US" sz="105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50" dirty="0">
                <a:solidFill>
                  <a:srgbClr val="37474F"/>
                </a:solidFill>
              </a:rPr>
              <a:t>GSM &amp; LCD I2C connections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111496" y="804672"/>
            <a:ext cx="548640" cy="54864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11496" y="80467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660136" y="1078992"/>
            <a:ext cx="1069848" cy="0"/>
          </a:xfrm>
          <a:prstGeom prst="line">
            <a:avLst/>
          </a:prstGeom>
          <a:noFill/>
          <a:ln w="19050">
            <a:solidFill>
              <a:srgbClr val="90A4AE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4562856" y="1417320"/>
            <a:ext cx="2011680" cy="3383280"/>
          </a:xfrm>
          <a:prstGeom prst="rect">
            <a:avLst/>
          </a:prstGeom>
          <a:solidFill>
            <a:srgbClr val="F8FBFF"/>
          </a:solidFill>
          <a:ln w="12700">
            <a:solidFill>
              <a:srgbClr val="1565C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62856" y="1417320"/>
            <a:ext cx="2011680" cy="4114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62856" y="1417320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FFFFFF"/>
                </a:solidFill>
              </a:rPr>
              <a:t>PHASE 3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562856" y="1618488"/>
            <a:ext cx="201168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Firmware Development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654296" y="1920240"/>
            <a:ext cx="18288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50" dirty="0">
                <a:solidFill>
                  <a:srgbClr val="37474F"/>
                </a:solidFill>
              </a:rPr>
              <a:t>Ultrasonic measurement function</a:t>
            </a:r>
            <a:endParaRPr lang="en-US" sz="105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50" dirty="0">
                <a:solidFill>
                  <a:srgbClr val="37474F"/>
                </a:solidFill>
              </a:rPr>
              <a:t>Water level % calculation</a:t>
            </a:r>
            <a:endParaRPr lang="en-US" sz="105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50" dirty="0">
                <a:solidFill>
                  <a:srgbClr val="37474F"/>
                </a:solidFill>
              </a:rPr>
              <a:t>GSM AT command SMS sequence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278624" y="804672"/>
            <a:ext cx="548640" cy="54864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278624" y="80467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729984" y="1417320"/>
            <a:ext cx="2011680" cy="3383280"/>
          </a:xfrm>
          <a:prstGeom prst="rect">
            <a:avLst/>
          </a:prstGeom>
          <a:solidFill>
            <a:srgbClr val="F8FBFF"/>
          </a:solidFill>
          <a:ln w="12700">
            <a:solidFill>
              <a:srgbClr val="2E7D32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729984" y="1417320"/>
            <a:ext cx="2011680" cy="41148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729984" y="1417320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FFFFFF"/>
                </a:solidFill>
              </a:rPr>
              <a:t>PHASE 4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729984" y="1618488"/>
            <a:ext cx="201168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Testing &amp; Refinement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821424" y="1920240"/>
            <a:ext cx="18288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50" dirty="0">
                <a:solidFill>
                  <a:srgbClr val="37474F"/>
                </a:solidFill>
              </a:rPr>
              <a:t>±1 cm accuracy across full range</a:t>
            </a:r>
            <a:endParaRPr lang="en-US" sz="105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50" dirty="0">
                <a:solidFill>
                  <a:srgbClr val="37474F"/>
                </a:solidFill>
              </a:rPr>
              <a:t>10/10 SMS delivery success rate</a:t>
            </a:r>
            <a:endParaRPr lang="en-US" sz="105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50" dirty="0">
                <a:solidFill>
                  <a:srgbClr val="37474F"/>
                </a:solidFill>
              </a:rPr>
              <a:t>8–12 sec average delivery time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A2342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Smart Water Level Alert System for Dams / Tanks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KEY FEATURES &amp; TEST RESULTS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640080"/>
            <a:ext cx="9144000" cy="45720"/>
          </a:xfrm>
          <a:prstGeom prst="rect">
            <a:avLst/>
          </a:prstGeom>
          <a:solidFill>
            <a:srgbClr val="29B6F6"/>
          </a:solidFill>
          <a:ln w="12700">
            <a:solidFill>
              <a:srgbClr val="29B6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777240"/>
            <a:ext cx="2011680" cy="96012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  <a:effectLst>
            <a:outerShdw blurRad="762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82296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±1 cm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274320" y="132588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DEEFF"/>
                </a:solidFill>
              </a:rPr>
              <a:t>Sensor Accuracy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423160" y="777240"/>
            <a:ext cx="2011680" cy="9601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  <a:effectLst>
            <a:outerShdw blurRad="762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23160" y="82296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10/10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423160" y="132588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DEEFF"/>
                </a:solidFill>
              </a:rPr>
              <a:t>SMS Success Rate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0" y="777240"/>
            <a:ext cx="2011680" cy="9601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blurRad="762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72000" y="82296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8–12s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572000" y="132588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DEEFF"/>
                </a:solidFill>
              </a:rPr>
              <a:t>Alert Delivery Time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720840" y="777240"/>
            <a:ext cx="2011680" cy="96012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  <a:effectLst>
            <a:outerShdw blurRad="762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720840" y="82296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5 Nos.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720840" y="132588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DEEFF"/>
                </a:solidFill>
              </a:rPr>
              <a:t>Multi-Recipient SMS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74320" y="192024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565C0"/>
                </a:solidFill>
              </a:rPr>
              <a:t>Core Features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274320" y="2304288"/>
            <a:ext cx="41148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150" dirty="0">
                <a:solidFill>
                  <a:srgbClr val="37474F"/>
                </a:solidFill>
              </a:rPr>
              <a:t>Continuous ultrasonic distance measurement (every 2 sec)</a:t>
            </a:r>
            <a:endParaRPr lang="en-US" sz="115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150" dirty="0">
                <a:solidFill>
                  <a:srgbClr val="37474F"/>
                </a:solidFill>
              </a:rPr>
              <a:t>Auto-conversion of readings to water fill percentage</a:t>
            </a:r>
            <a:endParaRPr lang="en-US" sz="115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150" dirty="0">
                <a:solidFill>
                  <a:srgbClr val="37474F"/>
                </a:solidFill>
              </a:rPr>
              <a:t>Real-time 16×2 LCD display of current level</a:t>
            </a:r>
            <a:endParaRPr lang="en-US" sz="115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150" dirty="0">
                <a:solidFill>
                  <a:srgbClr val="37474F"/>
                </a:solidFill>
              </a:rPr>
              <a:t>SMS alert: level &lt; 20% threshold trigger</a:t>
            </a:r>
            <a:endParaRPr lang="en-US" sz="115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150" dirty="0">
                <a:solidFill>
                  <a:srgbClr val="37474F"/>
                </a:solidFill>
              </a:rPr>
              <a:t>'Water Restored' confirmation SMS on recovery</a:t>
            </a:r>
            <a:endParaRPr lang="en-US" sz="115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150" dirty="0">
                <a:solidFill>
                  <a:srgbClr val="37474F"/>
                </a:solidFill>
              </a:rPr>
              <a:t>10-min SMS cooldown timer (millis() function)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754880" y="1920240"/>
            <a:ext cx="4114800" cy="2926080"/>
          </a:xfrm>
          <a:prstGeom prst="rect">
            <a:avLst/>
          </a:prstGeom>
          <a:solidFill>
            <a:srgbClr val="E8F0FE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0" y="19659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565C0"/>
                </a:solidFill>
              </a:rPr>
              <a:t>📱  SMS Alert Samples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029200" y="2423160"/>
            <a:ext cx="3566160" cy="82296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0" y="242316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</a:rPr>
              <a:t>⚠ ALERT: Water level critically low!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</a:rPr>
              <a:t>Current Level: 18%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</a:rPr>
              <a:t>Take immediate action.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029200" y="3383280"/>
            <a:ext cx="3566160" cy="6858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0" y="3383280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</a:rPr>
              <a:t>✅ Water Restored!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</a:rPr>
              <a:t>Water level back to normal.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</a:rPr>
              <a:t>Current Level: 72%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754880" y="416052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37474F"/>
                </a:solidFill>
              </a:rPr>
              <a:t>Delivered to up to 5 configured mobile numbers simultaneously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A2342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Smart Water Level Alert System for Dams / Tanks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APPLICATIONS &amp; CONCLUSION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640080"/>
            <a:ext cx="9144000" cy="45720"/>
          </a:xfrm>
          <a:prstGeom prst="rect">
            <a:avLst/>
          </a:prstGeom>
          <a:solidFill>
            <a:srgbClr val="29B6F6"/>
          </a:solidFill>
          <a:ln w="12700">
            <a:solidFill>
              <a:srgbClr val="29B6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777240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565C0"/>
                </a:solidFill>
              </a:rPr>
              <a:t>Applications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74320" y="1188720"/>
            <a:ext cx="1463040" cy="1234440"/>
          </a:xfrm>
          <a:prstGeom prst="rect">
            <a:avLst/>
          </a:prstGeom>
          <a:solidFill>
            <a:srgbClr val="F0F7FF"/>
          </a:solidFill>
          <a:ln w="12700">
            <a:solidFill>
              <a:srgbClr val="1E88E5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" y="1261872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🌾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274320" y="166420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565C0"/>
                </a:solidFill>
              </a:rPr>
              <a:t>Agriculture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20040" y="1938528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7474F"/>
                </a:solidFill>
              </a:rPr>
              <a:t>Farmers using tanks &amp; small dams for irrigation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1874520" y="1188720"/>
            <a:ext cx="1463040" cy="1234440"/>
          </a:xfrm>
          <a:prstGeom prst="rect">
            <a:avLst/>
          </a:prstGeom>
          <a:solidFill>
            <a:srgbClr val="F0F7FF"/>
          </a:solidFill>
          <a:ln w="12700">
            <a:solidFill>
              <a:srgbClr val="1E88E5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874520" y="1261872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🏘️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874520" y="166420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565C0"/>
                </a:solidFill>
              </a:rPr>
              <a:t>Rural Communities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920240" y="1938528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7474F"/>
                </a:solidFill>
              </a:rPr>
              <a:t>Village panchayats &amp; domestic water supply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474720" y="1188720"/>
            <a:ext cx="1463040" cy="1234440"/>
          </a:xfrm>
          <a:prstGeom prst="rect">
            <a:avLst/>
          </a:prstGeom>
          <a:solidFill>
            <a:srgbClr val="F0F7FF"/>
          </a:solidFill>
          <a:ln w="12700">
            <a:solidFill>
              <a:srgbClr val="1E88E5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474720" y="1261872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🏭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474720" y="166420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565C0"/>
                </a:solidFill>
              </a:rPr>
              <a:t>Industrial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520440" y="1938528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7474F"/>
                </a:solidFill>
              </a:rPr>
              <a:t>Factories &amp; processing unit storage monitoring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74320" y="2560320"/>
            <a:ext cx="1463040" cy="1234440"/>
          </a:xfrm>
          <a:prstGeom prst="rect">
            <a:avLst/>
          </a:prstGeom>
          <a:solidFill>
            <a:srgbClr val="F0F7FF"/>
          </a:solidFill>
          <a:ln w="12700">
            <a:solidFill>
              <a:srgbClr val="1E88E5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74320" y="2633472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🏙️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274320" y="303580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565C0"/>
                </a:solidFill>
              </a:rPr>
              <a:t>Municipal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20040" y="3310128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7474F"/>
                </a:solidFill>
              </a:rPr>
              <a:t>Community tanks &amp; public reservoir management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1874520" y="2560320"/>
            <a:ext cx="1463040" cy="1234440"/>
          </a:xfrm>
          <a:prstGeom prst="rect">
            <a:avLst/>
          </a:prstGeom>
          <a:solidFill>
            <a:srgbClr val="F0F7FF"/>
          </a:solidFill>
          <a:ln w="12700">
            <a:solidFill>
              <a:srgbClr val="1E88E5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874520" y="2633472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☀️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874520" y="303580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565C0"/>
                </a:solidFill>
              </a:rPr>
              <a:t>Remote/Off-Grid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920240" y="3310128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7474F"/>
                </a:solidFill>
              </a:rPr>
              <a:t>Solar-powered deployment in rural areas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474720" y="2560320"/>
            <a:ext cx="1463040" cy="1234440"/>
          </a:xfrm>
          <a:prstGeom prst="rect">
            <a:avLst/>
          </a:prstGeom>
          <a:solidFill>
            <a:srgbClr val="F0F7FF"/>
          </a:solidFill>
          <a:ln w="12700">
            <a:solidFill>
              <a:srgbClr val="1E88E5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474720" y="2633472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🌊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3474720" y="303580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565C0"/>
                </a:solidFill>
              </a:rPr>
              <a:t>Dam Safety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520440" y="3310128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7474F"/>
                </a:solidFill>
              </a:rPr>
              <a:t>Early warning during drought or flood conditions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5074920" y="777240"/>
            <a:ext cx="3794760" cy="4114800"/>
          </a:xfrm>
          <a:prstGeom prst="rect">
            <a:avLst/>
          </a:prstGeom>
          <a:solidFill>
            <a:srgbClr val="0A2342"/>
          </a:solidFill>
          <a:ln w="12700">
            <a:solidFill>
              <a:srgbClr val="29B6F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74920" y="822960"/>
            <a:ext cx="3794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200" dirty="0">
                <a:solidFill>
                  <a:srgbClr val="29B6F6"/>
                </a:solidFill>
              </a:rPr>
              <a:t>CONCLUSION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5669280" y="1207008"/>
            <a:ext cx="2606040" cy="2743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166360" y="1325880"/>
            <a:ext cx="35661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DDEEFF"/>
                </a:solidFill>
              </a:rPr>
              <a:t>Combines affordable IoT technology with critical water resource management needs.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DDEEFF"/>
                </a:solidFill>
              </a:rPr>
              <a:t>Promotes proactive water monitoring over reactive manual inspection.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DDEEFF"/>
                </a:solidFill>
              </a:rPr>
              <a:t>Successfully refined through two evaluation cycles — robust &amp; field-ready.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DDEEFF"/>
                </a:solidFill>
              </a:rPr>
              <a:t>Proven 100% SMS delivery &amp; ±1 cm sensor accuracy in testing.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DDEEFF"/>
                </a:solidFill>
              </a:rPr>
              <a:t>Future scope: cloud dashboards, mobile apps &amp; multi-sensor environmental monitoring.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A2342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Smart Water Level Alert System for Dams / Tanks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64008"/>
            <a:ext cx="5029200" cy="877824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29B6F6"/>
          </a:solidFill>
          <a:ln w="12700">
            <a:solidFill>
              <a:srgbClr val="29B6F6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0" y="1060704"/>
            <a:ext cx="9144000" cy="36576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128016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800" b="1" kern="0" spc="800" dirty="0">
                <a:solidFill>
                  <a:srgbClr val="29B6F6"/>
                </a:solidFill>
              </a:rPr>
              <a:t>THANK YOU</a:t>
            </a:r>
            <a:endParaRPr lang="en-US" sz="6800" dirty="0"/>
          </a:p>
        </p:txBody>
      </p:sp>
      <p:sp>
        <p:nvSpPr>
          <p:cNvPr id="7" name="Text 4"/>
          <p:cNvSpPr/>
          <p:nvPr/>
        </p:nvSpPr>
        <p:spPr>
          <a:xfrm>
            <a:off x="457200" y="2377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2286000" y="2880360"/>
            <a:ext cx="4572000" cy="2743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30175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FFFFFF"/>
                </a:solidFill>
              </a:rPr>
              <a:t>Likhitha. N  |  Mehala. K  |  Muthurakku. J</a:t>
            </a:r>
            <a:endParaRPr lang="en-US" sz="13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300" dirty="0">
                <a:solidFill>
                  <a:srgbClr val="FFFFFF"/>
                </a:solidFill>
              </a:rPr>
              <a:t>Department of Computer Science and Engineering</a:t>
            </a:r>
            <a:endParaRPr lang="en-US" sz="13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300" dirty="0">
                <a:solidFill>
                  <a:srgbClr val="FFFFFF"/>
                </a:solidFill>
              </a:rPr>
              <a:t>Solamalai College of Engineering, Madurai — May 2026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2560320" y="3931920"/>
            <a:ext cx="4023360" cy="822960"/>
          </a:xfrm>
          <a:prstGeom prst="rect">
            <a:avLst/>
          </a:prstGeom>
          <a:solidFill>
            <a:srgbClr val="0D2D5A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560320" y="3931920"/>
            <a:ext cx="4023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050" dirty="0">
                <a:solidFill>
                  <a:srgbClr val="FFB300"/>
                </a:solidFill>
              </a:rPr>
              <a:t>Guide: </a:t>
            </a:r>
            <a:r>
              <a:rPr lang="en-US" sz="1050" b="1" dirty="0">
                <a:solidFill>
                  <a:srgbClr val="FFFFFF"/>
                </a:solidFill>
              </a:rPr>
              <a:t>Dr. C. Sheelamal, M.E., Ph.D.</a:t>
            </a:r>
            <a:endParaRPr lang="en-US" sz="105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050" dirty="0">
                <a:solidFill>
                  <a:srgbClr val="90A4AE"/>
                </a:solidFill>
              </a:rPr>
              <a:t>Head of the Department, CSE  |  Solamalai College of Engineering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457200" y="4864608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00897B"/>
                </a:solidFill>
              </a:rPr>
              <a:t>"Empowering communities through affordable IoT water management"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988</Words>
  <Application>Microsoft Office PowerPoint</Application>
  <PresentationFormat>On-screen Show (16:9)</PresentationFormat>
  <Paragraphs>220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2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Water Level Alert System</dc:title>
  <dc:subject>PptxGenJS Presentation</dc:subject>
  <dc:creator>PptxGenJS</dc:creator>
  <cp:lastModifiedBy>likhitha natarajan</cp:lastModifiedBy>
  <cp:revision>2</cp:revision>
  <dcterms:created xsi:type="dcterms:W3CDTF">2026-05-03T06:43:20Z</dcterms:created>
  <dcterms:modified xsi:type="dcterms:W3CDTF">2026-05-03T07:40:59Z</dcterms:modified>
</cp:coreProperties>
</file>